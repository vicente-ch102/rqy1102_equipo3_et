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0289B9-8DC3-46A9-A763-A67E5DD417AA}">
  <a:tblStyle styleId="{370289B9-8DC3-46A9-A763-A67E5DD417A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200394a82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200394a8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slow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12" Type="http://schemas.openxmlformats.org/officeDocument/2006/relationships/image" Target="../media/image13.png"/><Relationship Id="rId9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hyperlink" Target="https://www.figma.com/make/gt8K6yJpMEQaZ3a9cr4gYs/Prototipo-gesti%C3%B3n-comunidad-residencial?t=sTxMoTndGCIeJcPM-1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17.png"/><Relationship Id="rId5" Type="http://schemas.openxmlformats.org/officeDocument/2006/relationships/image" Target="../media/image9.png"/><Relationship Id="rId6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29" y="495097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 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Integral Edificio Mirador 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INGENIERÍA DE SOFTWARE | RQY1102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scuelaIT Duoc UC - Escuela de Informática y Telecomunicaciones Duoc UC - Duoc  UC | LinkedIn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7963" y="4463247"/>
            <a:ext cx="4536009" cy="1144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4"/>
          <p:cNvGrpSpPr/>
          <p:nvPr/>
        </p:nvGrpSpPr>
        <p:grpSpPr>
          <a:xfrm>
            <a:off x="4114500" y="1626000"/>
            <a:ext cx="7905050" cy="5023138"/>
            <a:chOff x="0" y="-80585"/>
            <a:chExt cx="7905050" cy="4431138"/>
          </a:xfrm>
        </p:grpSpPr>
        <p:sp>
          <p:nvSpPr>
            <p:cNvPr id="93" name="Google Shape;93;p14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 txBox="1"/>
            <p:nvPr/>
          </p:nvSpPr>
          <p:spPr>
            <a:xfrm>
              <a:off x="1662650" y="-80585"/>
              <a:ext cx="6242400" cy="202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Vicente Chávez 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159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</a:pPr>
              <a:r>
                <a:rPr lang="es-CL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Arquitecto de Software 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159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</a:pPr>
              <a:r>
                <a:rPr b="0" i="0" lang="es-CL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r>
                <a:rPr lang="es-CL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: Elaboración del DAS, diseño de la arquitectura del sistema, desarrollo del prototipo, evaluación heurística y documentación técnica.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1662650" y="1455186"/>
              <a:ext cx="61365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Felipe Martínez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0955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Char char="•"/>
              </a:pPr>
              <a:r>
                <a:rPr lang="es-CL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y d</a:t>
              </a:r>
              <a:r>
                <a:rPr lang="es-CL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esarrollador de software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0955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Char char="•"/>
              </a:pPr>
              <a:r>
                <a:rPr b="0" i="0" lang="es-CL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 Levantamiento de requerimientos</a:t>
              </a:r>
              <a:r>
                <a:rPr lang="es-CL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 e</a:t>
              </a:r>
              <a:r>
                <a:rPr b="0" i="0" lang="es-CL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laboración de diagramas UML</a:t>
              </a:r>
              <a:r>
                <a:rPr lang="es-CL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 d</a:t>
              </a:r>
              <a:r>
                <a:rPr b="0" i="0" lang="es-CL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efinición de requisitos</a:t>
              </a:r>
              <a:r>
                <a:rPr lang="es-CL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 d</a:t>
              </a:r>
              <a:r>
                <a:rPr b="0" i="0" lang="es-CL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esarrollo del prototipo</a:t>
              </a:r>
              <a:r>
                <a:rPr lang="es-CL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y d</a:t>
              </a:r>
              <a:r>
                <a:rPr b="0" i="0" lang="es-CL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ocumentación del proyecto.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032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" name="Google Shape;100;p1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 Gestión Integral Edificio Mirador 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INTEGRANTES, ROLES Y TIPO DE ORGANIZACIÓN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1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Integral Edificio Mirador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Y PROPUESTA DE SOLUCIÓN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1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1" name="Google Shape;111;p15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/ Necesidad del Cliente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edificio </a:t>
            </a: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"El Mirador"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administra los gastos comunes mediante procesos manuales, lo que provoca errores en los cobros, alta morosidad, retrasos en las mantenciones, poca transparencia en el uso de los fondos y una comunicación ineficiente entre la administración y los residentes. Estas dificultades afectan el control financiero y la gestión diaria del edificio.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6912079" y="2177325"/>
            <a:ext cx="43488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 de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propone desarrollar una </a:t>
            </a: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web de gestión integral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automatice la administración del edificio, permitiendo gestionar residentes, departamentos, gastos comunes, pagos, reportes, solicitudes de mantenimiento y notificaciones automáticas. Con ello se busca reducir la morosidad, optimizar los procesos administrativos y brindar información transparente y en tiempo real a la administración y los residentes.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Integral Edificio Mirador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0" y="94685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 DEL SOFTWARE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1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2" name="Google Shape;122;p16"/>
          <p:cNvSpPr txBox="1"/>
          <p:nvPr/>
        </p:nvSpPr>
        <p:spPr>
          <a:xfrm>
            <a:off x="-24" y="408589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Fases aplicadas al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614525" y="1541450"/>
            <a:ext cx="10962900" cy="261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s-CL" sz="1100">
                <a:solidFill>
                  <a:schemeClr val="dk1"/>
                </a:solidFill>
              </a:rPr>
              <a:t>Análisis:</a:t>
            </a:r>
            <a:r>
              <a:rPr lang="es-CL" sz="1100">
                <a:solidFill>
                  <a:schemeClr val="dk1"/>
                </a:solidFill>
              </a:rPr>
              <a:t> Se levantaron los requerimientos del Edificio El Mirador, identificando las necesidades de la administración y los residentes para definir los requisitos funcionales y no funcionales del sistema.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Diseño:</a:t>
            </a:r>
            <a:r>
              <a:rPr lang="es-CL" sz="1100">
                <a:solidFill>
                  <a:schemeClr val="dk1"/>
                </a:solidFill>
              </a:rPr>
              <a:t> Se definió la arquitectura monolítica modular mediante el modelo 4+1, elaborando los diagramas UML, el modelo de datos y el prototipo de alta fidelidad en Figma.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Desarrollo:</a:t>
            </a:r>
            <a:r>
              <a:rPr lang="es-CL" sz="1100">
                <a:solidFill>
                  <a:schemeClr val="dk1"/>
                </a:solidFill>
              </a:rPr>
              <a:t> Se estructuró la solución en módulos independientes para la gestión de usuarios, residentes, gastos comunes, pagos, solicitudes, notificaciones y reportes, facilitando la mantenibilidad y futura escalabilidad.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Testing:</a:t>
            </a:r>
            <a:r>
              <a:rPr lang="es-CL" sz="1100">
                <a:solidFill>
                  <a:schemeClr val="dk1"/>
                </a:solidFill>
              </a:rPr>
              <a:t> Se evaluó el prototipo mediante pruebas heurísticas de Nielsen para detectar problemas de usabilidad y proponer mejoras antes de la implementación.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Mantenimiento:</a:t>
            </a:r>
            <a:r>
              <a:rPr lang="es-CL" sz="1100">
                <a:solidFill>
                  <a:schemeClr val="dk1"/>
                </a:solidFill>
              </a:rPr>
              <a:t> Se definieron atributos de calidad, control de versiones y principios de diseño que permiten corregir errores, incorporar nuevas funcionalidades y facilitar una futura migración hacia microservicios.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614525" y="4732398"/>
            <a:ext cx="10962900" cy="1989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Metodología y estándares utilizados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Modelo de Arquitectura 4+1</a:t>
            </a:r>
            <a:r>
              <a:rPr lang="es-CL" sz="1100">
                <a:solidFill>
                  <a:schemeClr val="dk1"/>
                </a:solidFill>
              </a:rPr>
              <a:t>, para documentar las diferentes vistas del sistema.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ISO/IEC 25000</a:t>
            </a:r>
            <a:r>
              <a:rPr lang="es-CL" sz="1100">
                <a:solidFill>
                  <a:schemeClr val="dk1"/>
                </a:solidFill>
              </a:rPr>
              <a:t>, para definir y evaluar los atributos de calidad del software.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Heurísticas de Nielsen</a:t>
            </a:r>
            <a:r>
              <a:rPr lang="es-CL" sz="1100">
                <a:solidFill>
                  <a:schemeClr val="dk1"/>
                </a:solidFill>
              </a:rPr>
              <a:t>, para evaluar la usabilidad del prototipo.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Semantic Versioning (SemVer)</a:t>
            </a:r>
            <a:r>
              <a:rPr lang="es-CL" sz="1100">
                <a:solidFill>
                  <a:schemeClr val="dk1"/>
                </a:solidFill>
              </a:rPr>
              <a:t>, para el control de versiones del proyecto.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</a:rPr>
              <a:t>Estos estándares fueron seleccionados porque permiten diseñar una solución estructurada, asegurar la calidad del software, validar la experiencia de usuario y mantener un control ordenado de la evolución del proyecto durante su desarrollo.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Integral Edificio Mirador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OBJETIVOS, ALCANCE Y LIMITACIONES DEL PROYECTO</a:t>
            </a:r>
            <a:endParaRPr/>
          </a:p>
        </p:txBody>
      </p:sp>
      <p:cxnSp>
        <p:nvCxnSpPr>
          <p:cNvPr id="132" name="Google Shape;132;p1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3" name="Google Shape;133;p17"/>
          <p:cNvSpPr/>
          <p:nvPr/>
        </p:nvSpPr>
        <p:spPr>
          <a:xfrm>
            <a:off x="648275" y="3759625"/>
            <a:ext cx="4898100" cy="3046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r>
              <a:rPr b="1" lang="es-CL" sz="1700">
                <a:solidFill>
                  <a:schemeClr val="dk1"/>
                </a:solidFill>
              </a:rPr>
              <a:t>Alcance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</a:rPr>
              <a:t>El sistema contempla los siguientes módulos: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Gestión de usuarios y roles.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Gestión de residentes y departamentos.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Administración de gastos comunes.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Registro y control de pagos.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Solicitudes de mantenimiento.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Notificaciones automáticas.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Reportes financieros y administrativos.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CL" sz="1100">
                <a:solidFill>
                  <a:schemeClr val="dk1"/>
                </a:solidFill>
              </a:rPr>
              <a:t>La solución considera una </a:t>
            </a:r>
            <a:r>
              <a:rPr b="1" lang="es-CL" sz="1100">
                <a:solidFill>
                  <a:schemeClr val="dk1"/>
                </a:solidFill>
              </a:rPr>
              <a:t>arquitectura monolítica modular</a:t>
            </a:r>
            <a:r>
              <a:rPr lang="es-CL" sz="1100">
                <a:solidFill>
                  <a:schemeClr val="dk1"/>
                </a:solidFill>
              </a:rPr>
              <a:t>, accesible mediante una aplicación web y preparada para una futura evolución hacia microservicios.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614525" y="2193875"/>
            <a:ext cx="4965600" cy="1503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solidFill>
                  <a:schemeClr val="dk1"/>
                </a:solidFill>
              </a:rPr>
              <a:t>Objetivo General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CL" sz="1100">
                <a:solidFill>
                  <a:schemeClr val="dk1"/>
                </a:solidFill>
              </a:rPr>
              <a:t>Desarrollar un </a:t>
            </a:r>
            <a:r>
              <a:rPr b="1" lang="es-CL" sz="1100">
                <a:solidFill>
                  <a:schemeClr val="dk1"/>
                </a:solidFill>
              </a:rPr>
              <a:t>Sistema de Gestión Integral para el Edificio El Mirador</a:t>
            </a:r>
            <a:r>
              <a:rPr lang="es-CL" sz="1100">
                <a:solidFill>
                  <a:schemeClr val="dk1"/>
                </a:solidFill>
              </a:rPr>
              <a:t> que automatice los procesos administrativos y financieros, mejorando la eficiencia en la gestión de gastos comunes, la comunicación con los residentes y el control de la información.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5912600" y="2193875"/>
            <a:ext cx="4965600" cy="196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solidFill>
                  <a:schemeClr val="dk1"/>
                </a:solidFill>
              </a:rPr>
              <a:t>Objetivos Específicos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Automatizar el cálculo y cobro de gastos comunes.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Gestionar usuarios, residentes y departamentos desde una plataforma centralizada.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Registrar pagos y controlar la morosidad.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Administrar solicitudes de mantenimiento y notificaciones.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Generar reportes que apoyen la toma de decisiones de la administración.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5912600" y="4380075"/>
            <a:ext cx="4965600" cy="211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solidFill>
                  <a:schemeClr val="dk1"/>
                </a:solidFill>
              </a:rPr>
              <a:t>Limitaciones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Dependencia de conexión a Internet para el acceso al sistema.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Integración con servicios externos para pagos y envío de notificaciones.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El proyecto contempla el diseño arquitectónico y el prototipo funcional; la implementación completa queda como etapa posterior.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El rendimiento depende de la infraestructura tecnológica donde sea desplegado el sistema.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Integral Edificio Mirador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0" y="14261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ESTRATEGIAS DE GESTIÓN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1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5" name="Google Shape;145;p18"/>
          <p:cNvSpPr txBox="1"/>
          <p:nvPr/>
        </p:nvSpPr>
        <p:spPr>
          <a:xfrm>
            <a:off x="1011400" y="2336025"/>
            <a:ext cx="9872700" cy="40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y organización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proyecto se desarrolló siguiendo una planificación por fases (análisis, diseño, desarrollo, pruebas y cierre), permitiendo organizar las actividades y controlar el avance mediante una Carta Gantt.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la calidad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establecieron atributos de calidad basados en la norma </a:t>
            </a: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ISO/IEC 25000</a:t>
            </a: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complementados con evaluaciones heurísticas de Nielsen para validar la usabilidad del prototipo antes de su implementación.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cambios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utilizó </a:t>
            </a: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Semantic Versioning (SemVer)</a:t>
            </a: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controlar la evolución del proyecto y mantener un historial ordenado de las versiones del software y la documentación.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Trabajo colaborativo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emplearon herramientas colaborativas como </a:t>
            </a: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Figma</a:t>
            </a: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el diseño del prototipo y </a:t>
            </a: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Docs</a:t>
            </a: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la documentación, facilitando el trabajo conjunto y el seguimiento de cambios.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0" name="Google Shape;1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Integral Edificio Mirador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DEL PROYECTO (EDT + CARTA GANTT)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Adjuntar Carta Gantt detallada. Indicar avance y cumplimiento al término del proyecto.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1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54" name="Google Shape;15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334417"/>
            <a:ext cx="11887201" cy="1845767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2600700" y="3866275"/>
            <a:ext cx="943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1              I                      Fase 2                                       I  Fase 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60651" y="2048201"/>
            <a:ext cx="4523200" cy="190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Integral Edificio Mirador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SOFTWARE - MODELO 4+1 (UML)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• Vista Escenario: Casos de Uso  • Vista Lógica: Clases  • Vista Desarrollo: Componentes  • Vista Proceso: Actividad  • Vista Física: Despliegue</a:t>
            </a:r>
            <a:endParaRPr/>
          </a:p>
        </p:txBody>
      </p:sp>
      <p:cxnSp>
        <p:nvCxnSpPr>
          <p:cNvPr id="164" name="Google Shape;164;p2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65" name="Google Shape;16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200" y="2776225"/>
            <a:ext cx="3141399" cy="2016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6763" y="4691425"/>
            <a:ext cx="3003350" cy="216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1725" y="2793925"/>
            <a:ext cx="2667150" cy="241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07775" y="2793913"/>
            <a:ext cx="2667150" cy="2073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12100" y="5731463"/>
            <a:ext cx="2929325" cy="109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68400" y="2776244"/>
            <a:ext cx="2305649" cy="2109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48875" y="4964063"/>
            <a:ext cx="2723275" cy="8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339937" y="5835886"/>
            <a:ext cx="2667150" cy="884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832400" y="4901363"/>
            <a:ext cx="1404125" cy="93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" name="Google Shape;178;p21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9" name="Google Shape;179;p21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“Gestión Integral Edificio Mirador”</a:t>
            </a:r>
            <a:endParaRPr/>
          </a:p>
        </p:txBody>
      </p:sp>
      <p:pic>
        <p:nvPicPr>
          <p:cNvPr descr="EscuelaIT Duoc UC - Escuela de Informática y Telecomunicaciones Duoc UC - Duoc  UC | LinkedIn" id="180" name="Google Shape;18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900" y="891350"/>
            <a:ext cx="4031892" cy="355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71425" y="1293700"/>
            <a:ext cx="4676025" cy="250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47925" y="4605100"/>
            <a:ext cx="7923651" cy="198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81288" y="959975"/>
            <a:ext cx="3200475" cy="342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9" name="Google Shape;1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Integral Edificio Mirador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FUNCIONALES Y NO FUNCIONALES</a:t>
            </a:r>
            <a:endParaRPr/>
          </a:p>
        </p:txBody>
      </p:sp>
      <p:cxnSp>
        <p:nvCxnSpPr>
          <p:cNvPr id="192" name="Google Shape;192;p2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3" name="Google Shape;193;p22"/>
          <p:cNvSpPr txBox="1"/>
          <p:nvPr/>
        </p:nvSpPr>
        <p:spPr>
          <a:xfrm>
            <a:off x="266575" y="2426650"/>
            <a:ext cx="4679100" cy="30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FUNCIONALES</a:t>
            </a:r>
            <a:endParaRPr b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RF1:</a:t>
            </a: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Gestionar usuarios y roles con permisos diferenciados.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RF2:</a:t>
            </a: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Administrar residentes y departamentos.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RF3:</a:t>
            </a: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Calcular y registrar los gastos comunes de cada unidad.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RF4:</a:t>
            </a: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Registrar pagos y controlar la morosidad.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RF5:</a:t>
            </a: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Gestionar solicitudes de mantenimiento y su seguimiento.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RF6:</a:t>
            </a: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Generar reportes financieros y administrativos.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RF7:</a:t>
            </a: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Enviar notificaciones automáticas a los residentes.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RF8:</a:t>
            </a: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Mantener un historial de operaciones para auditoría y consulta.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4738900" y="2426650"/>
            <a:ext cx="4403400" cy="4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NO FUNCIONALES</a:t>
            </a:r>
            <a:endParaRPr b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Autenticación mediante usuarios y roles.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Contraseñas cifradas con </a:t>
            </a:r>
            <a:r>
              <a:rPr b="1"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Bcrypt</a:t>
            </a: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Comunicación segura mediante </a:t>
            </a:r>
            <a:r>
              <a:rPr b="1"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HTTPS/TLS</a:t>
            </a: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Rendimiento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Tiempo de respuesta menor a </a:t>
            </a:r>
            <a:r>
              <a:rPr b="1"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1,5 segundos</a:t>
            </a: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consultas internas.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Procesamiento de pagos externos menor a </a:t>
            </a:r>
            <a:r>
              <a:rPr b="1"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3,5 segundos</a:t>
            </a: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Usabilidad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Interfaz intuitiva y responsiva.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Cumplimiento de las pautas </a:t>
            </a:r>
            <a:r>
              <a:rPr b="1"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WCAG 2.1 Nivel AA</a:t>
            </a: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8887800" y="2955550"/>
            <a:ext cx="3304200" cy="30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Mantenibilidad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modular que facilite futuras mejoras.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Cobertura mínima del </a:t>
            </a:r>
            <a:r>
              <a:rPr b="1"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pruebas unitarias.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Escalabilidad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Diseño preparado para evolucionar desde una arquitectura monolítica modular hacia una arquitectura basada en microservicios.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0" name="Google Shape;20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Integral Edificio Mirador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ESTÁNDARES DE CALIDAD - ISO25000 Y OTROS</a:t>
            </a:r>
            <a:endParaRPr/>
          </a:p>
        </p:txBody>
      </p:sp>
      <p:cxnSp>
        <p:nvCxnSpPr>
          <p:cNvPr id="203" name="Google Shape;203;p2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204" name="Google Shape;204;p23"/>
          <p:cNvGraphicFramePr/>
          <p:nvPr/>
        </p:nvGraphicFramePr>
        <p:xfrm>
          <a:off x="136188" y="251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{370289B9-8DC3-46A9-A763-A67E5DD417AA}</a:tableStyleId>
              </a:tblPr>
              <a:tblGrid>
                <a:gridCol w="2219325"/>
                <a:gridCol w="96202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Estándar / Metodología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¿Dónde se aplicó en el proyecto?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ISO/IEC 25000 (SQuaRE)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utilizó para definir los atributos de calidad del sistema, estableciendo métricas de </a:t>
                      </a: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seguridad, rendimiento, mantenibilidad, usabilidad y accesibilidad</a:t>
                      </a: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que debía cumplir la solución.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 de Arquitectura 4+1 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aplicó en el diseño de la arquitectura del software para documentar las vistas lógica, desarrollo, procesos, física y escenarios mediante diagramas UML.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UML 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utilizó para modelar la solución mediante diagramas de clases, componentes, paquetes, actividades y despliegue, apoyando el diseño de la arquitectura.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Heurísticas de Nielsen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aplicaron en la evaluación del prototipo desarrollado en Figma para identificar problemas de usabilidad y proponer acciones de mejora antes de la implementación.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OWASP Top 10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consideró como referencia para incorporar buenas prácticas de seguridad, principalmente en autenticación, validación de datos y protección frente a vulnerabilidades comunes en aplicaciones web.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Semantic Versioning (SemVer 2.0.0)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empleó para el control de versiones del proyecto, organizando la evolución del software mediante el esquema </a:t>
                      </a: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Mayor.Minor.Patch</a:t>
                      </a: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y facilitando el seguimiento de cambios.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9" name="Google Shape;20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4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PROTOTIPO DE ALTA FIDELIDAD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• Herramienta utilizada para prototipar</a:t>
            </a:r>
            <a:b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• Demostración de flujos principales</a:t>
            </a:r>
            <a:b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• Requisitos funcionales y no funcionales implementados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4"/>
          <p:cNvSpPr txBox="1"/>
          <p:nvPr/>
        </p:nvSpPr>
        <p:spPr>
          <a:xfrm>
            <a:off x="688400" y="5027450"/>
            <a:ext cx="10769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https://www.figma.com/make/gt8K6yJpMEQaZ3a9cr4gYs/Prototipo-gestión-comunidad-residencial?t=sTxMoTndGCIeJcPM-1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6" name="Google Shape;21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5"/>
          <p:cNvSpPr txBox="1"/>
          <p:nvPr/>
        </p:nvSpPr>
        <p:spPr>
          <a:xfrm>
            <a:off x="32626" y="760895"/>
            <a:ext cx="121920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HEURISTICA DE NIELSEN Y CASOS DE PRUEBA (ISO25000)</a:t>
            </a:r>
            <a:endParaRPr/>
          </a:p>
        </p:txBody>
      </p:sp>
      <p:pic>
        <p:nvPicPr>
          <p:cNvPr id="218" name="Google Shape;21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776" y="1834375"/>
            <a:ext cx="4632676" cy="290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0724" y="2116183"/>
            <a:ext cx="6625823" cy="2625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6150" y="4777026"/>
            <a:ext cx="10513126" cy="200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5" name="Google Shape;22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6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ACCIONES DE MEJORA Y CONTROL DE VERSIONES</a:t>
            </a:r>
            <a:endParaRPr/>
          </a:p>
        </p:txBody>
      </p:sp>
      <p:sp>
        <p:nvSpPr>
          <p:cNvPr id="227" name="Google Shape;227;p26"/>
          <p:cNvSpPr txBox="1"/>
          <p:nvPr/>
        </p:nvSpPr>
        <p:spPr>
          <a:xfrm>
            <a:off x="1959100" y="2785225"/>
            <a:ext cx="7920000" cy="2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partir de la evaluación heurística se propusieron las siguientes mejoras para incrementar la usabilidad y confiabilidad del sistema: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validaciones para evitar registros duplicados e inconsistencias.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Incorporar mensajes de confirmación y retroalimentación en las operaciones del sistema.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Mejorar la navegación y el control del usuario durante los procesos.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Optimizar la experiencia de uso mediante interfaces más intuitivas y accesibles.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Fortalecer la seguridad y la validación de datos en los formularios.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2" name="Google Shape;23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7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